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4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1054577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972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B6B4A"/>
                </a:solidFill>
              </a:defRPr>
            </a:pPr>
            <a:r>
              <a:t>1M1B AI FOR SUSTAINABILITY VIRTUAL INTERNSHIP</a:t>
            </a:r>
          </a:p>
          <a:p>
            <a:pPr>
              <a:spcAft>
                <a:spcPts val="1200"/>
              </a:spcAft>
              <a:defRPr sz="3000" b="1">
                <a:solidFill>
                  <a:srgbClr val="12402E"/>
                </a:solidFill>
              </a:defRPr>
            </a:pPr>
            <a:r>
              <a:t>CampusWatt AI: Smart Energy Optimization &amp; Audit Assistant</a:t>
            </a:r>
          </a:p>
          <a:p>
            <a:pPr>
              <a:spcAft>
                <a:spcPts val="2800"/>
              </a:spcAft>
              <a:defRPr sz="1600">
                <a:solidFill>
                  <a:srgbClr val="6C757D"/>
                </a:solidFill>
              </a:defRPr>
            </a:pPr>
            <a:r>
              <a:t>An AI-Driven Solution for Campus HVAC and Lighting Efficiency Aligned with UN SDGs</a:t>
            </a:r>
          </a:p>
          <a:p>
            <a:pPr>
              <a:spcAft>
                <a:spcPts val="800"/>
              </a:spcAft>
              <a:defRPr sz="1400" b="1">
                <a:solidFill>
                  <a:srgbClr val="12402E"/>
                </a:solidFill>
              </a:defRPr>
            </a:pPr>
            <a:r>
              <a:t>Project Identity &amp; Author Information: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•  Candidate Name: Senku Lokesh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•  Institution: The ICFAI University, Raipur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•  Program Partner: In collaboration with IBM SkillsBuild &amp; AICTE</a:t>
            </a:r>
          </a:p>
          <a:p>
            <a:pPr>
              <a:spcAft>
                <a:spcPts val="400"/>
              </a:spcAft>
              <a:defRPr sz="1300">
                <a:solidFill>
                  <a:srgbClr val="212529"/>
                </a:solidFill>
              </a:defRPr>
            </a:pPr>
            <a:r>
              <a:t>•  Target SDGs: SDG 7 (Affordable &amp; Clean Energy) | SDG 11 (Sustainable Cities &amp; Communities)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B4A"/>
                </a:solidFill>
              </a:defRPr>
            </a:pPr>
            <a:r>
              <a:t>SLIDE 2 | CONTEXT &amp;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402E"/>
                </a:solidFill>
              </a:defRPr>
            </a:pPr>
            <a:r>
              <a:t>Problem Statement &amp; SDG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THE REAL-WORLD CHALLENGE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• Campus Energy Waste: Academic campuses operate extensive facilities (lecture halls, labs, libraries) where air conditioning and lighting frequently run continuously regardless of actual room occupancy.</a:t>
            </a:r>
          </a:p>
          <a:p>
            <a:pPr>
              <a:spcAft>
                <a:spcPts val="1400"/>
              </a:spcAft>
              <a:defRPr sz="1300">
                <a:solidFill>
                  <a:srgbClr val="212529"/>
                </a:solidFill>
              </a:defRPr>
            </a:pPr>
            <a:r>
              <a:t>• Timetable vs. Reality Mismatch: Static class schedules do not reflect cancellations, early dismissals, or low student density, causing massive idle energy waste and high utility bills.</a:t>
            </a:r>
          </a:p>
          <a:p>
            <a:pPr>
              <a:spcAft>
                <a:spcPts val="800"/>
              </a:spcAft>
              <a:defRPr sz="1400" b="1">
                <a:solidFill>
                  <a:srgbClr val="1B6B4A"/>
                </a:solidFill>
              </a:defRPr>
            </a:pPr>
            <a:r>
              <a:t>TARGET STAKEHOLDERS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Campus facility managers, university estate officers, administrative heads, and student environmental societies.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B6B4A"/>
                </a:solidFill>
              </a:defRPr>
            </a:pPr>
            <a:r>
              <a:t>UNITED NATIONS SDG MAPPING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SDG 7: Affordable and Clean Energy</a:t>
            </a:r>
          </a:p>
          <a:p>
            <a:pPr>
              <a:spcAft>
                <a:spcPts val="1600"/>
              </a:spcAft>
              <a:defRPr sz="1250">
                <a:solidFill>
                  <a:srgbClr val="212529"/>
                </a:solidFill>
              </a:defRPr>
            </a:pPr>
            <a:r>
              <a:t>• Target 7.3: Double the global rate of improvement in energy efficiency.</a:t>
            </a:r>
            <a:br/>
            <a:r>
              <a:t>• Role: Eliminates unnecessary grid draw via intelligent cooling algorithms and dynamic daylight harvesting.</a:t>
            </a:r>
          </a:p>
          <a:p>
            <a:pPr>
              <a:spcAft>
                <a:spcPts val="400"/>
              </a:spcAft>
              <a:defRPr sz="1400" b="1">
                <a:solidFill>
                  <a:srgbClr val="1B6B4A"/>
                </a:solidFill>
              </a:defRPr>
            </a:pPr>
            <a:r>
              <a:t>SDG 11: Sustainable Cities &amp; Communities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Target 11.6: Reduce environmental impact of educational and public infrastructure.</a:t>
            </a:r>
            <a:br/>
            <a:r>
              <a:t>• Role: Converts high-emission campus buildings into smart, decarbonized, eco-conscious learning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B4A"/>
                </a:solidFill>
              </a:defRPr>
            </a:pPr>
            <a:r>
              <a:t>SLIDE 3 | 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402E"/>
                </a:solidFill>
              </a:defRPr>
            </a:pPr>
            <a:r>
              <a:t>Proposed AI Solution &amp;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92608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1. Data Ingestion Layer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Ingests lecture timetable schedules, room capacity, actual/expected headcounts, and live ambient weather temperature.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92608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2. AI Optimization Engine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Evaluates ambient heat load vs. occupancy density to determine optimal HVAC setpoints (24°C–26°C dynamic regulation) and lighting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92608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3. Automated Audit &amp; Advisory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Delivers actionable operational directives to facility teams and calculates projected kilowatt-hour (kWh) and CO2 reductions.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2402E"/>
                </a:solidFill>
              </a:defRPr>
            </a:pPr>
            <a:r>
              <a:t>WHY TRADITIONAL TIMERS FAIL &amp; WHY AI IS ESSENTIAL: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Non-linear relationships between outdoor temperature, indoor thermal mass, occupancy density, and daylight availability make static timer switches inefficient. CampusWatt AI continuously recalculates the optimal comfort-to-consumption frontier, ensuring zero waste while maintaining ASHRAE-compliant student comfort.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B4A"/>
                </a:solidFill>
              </a:defRPr>
            </a:pPr>
            <a:r>
              <a:t>SLIDE 4 |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402E"/>
                </a:solidFill>
              </a:defRPr>
            </a:pPr>
            <a:r>
              <a:t>Prototype &amp; Technical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11480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WORKFLOW PIPELINE</a:t>
            </a:r>
          </a:p>
          <a:p>
            <a:pPr>
              <a:defRPr sz="1300" b="1">
                <a:solidFill>
                  <a:srgbClr val="12402E"/>
                </a:solidFill>
              </a:defRPr>
            </a:pPr>
            <a:r>
              <a:t>• Input Layer: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Timetable data, outdoor weather API, classroom dimensions &amp; capacity.</a:t>
            </a:r>
          </a:p>
          <a:p>
            <a:pPr>
              <a:defRPr sz="1300" b="1">
                <a:solidFill>
                  <a:srgbClr val="12402E"/>
                </a:solidFill>
              </a:defRPr>
            </a:pPr>
            <a:r>
              <a:t>• Processing Layer: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Thermal comfort estimation, HVAC setpoint logic, daylight harvesting rules.</a:t>
            </a:r>
          </a:p>
          <a:p>
            <a:pPr>
              <a:defRPr sz="1300" b="1">
                <a:solidFill>
                  <a:srgbClr val="12402E"/>
                </a:solidFill>
              </a:defRPr>
            </a:pPr>
            <a:r>
              <a:t>• Advisory Layer:</a:t>
            </a:r>
          </a:p>
          <a:p>
            <a:pPr>
              <a:spcAft>
                <a:spcPts val="800"/>
              </a:spcAft>
              <a:defRPr sz="1200">
                <a:solidFill>
                  <a:srgbClr val="212529"/>
                </a:solidFill>
              </a:defRPr>
            </a:pPr>
            <a:r>
              <a:t>Natural-language operational schedule and anomaly alerts for facility staff.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63040"/>
            <a:ext cx="630936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64592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PROTOTYPE DEMONSTRATION &amp; AUDIT TEST</a:t>
            </a:r>
          </a:p>
          <a:p>
            <a:pPr>
              <a:defRPr sz="1300" b="1">
                <a:solidFill>
                  <a:srgbClr val="12402E"/>
                </a:solidFill>
              </a:defRPr>
            </a:pPr>
            <a:r>
              <a:t>Sample Input Test Case:</a:t>
            </a:r>
          </a:p>
          <a:p>
            <a:pPr>
              <a:spcAft>
                <a:spcPts val="1000"/>
              </a:spcAft>
              <a:defRPr sz="1200">
                <a:solidFill>
                  <a:srgbClr val="212529"/>
                </a:solidFill>
              </a:defRPr>
            </a:pPr>
            <a:r>
              <a:t>Room: LH-102 (ICFAI) | Capacity: 60 | Scheduled Headcount: 35 | Ambient Temp: 33.5°C | Duration: 3 Hours</a:t>
            </a:r>
          </a:p>
          <a:p>
            <a:pPr>
              <a:defRPr sz="1300" b="1">
                <a:solidFill>
                  <a:srgbClr val="1B6B4A"/>
                </a:solidFill>
              </a:defRPr>
            </a:pPr>
            <a:r>
              <a:t>System Audit Output: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Operational Status: ACTIVE OPTIMIZED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HVAC Setpoint: Adjusted to 25.0°C (Dynamic comfort mode)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Lighting Policy: Full On (Sufficient density across rows)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Baseline Consumption: 15.00 kWh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Optimized Consumption: 11.62 kWh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Single-Session Savings: 3.38 kWh (22.5% Reduction) | 2.77 kg CO2e Avoided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• Campus Daily Savings: ~14.8 kWh/day per block (11.2 kg CO2e/day)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B4A"/>
                </a:solidFill>
              </a:defRPr>
            </a:pPr>
            <a:r>
              <a:t>SLIDE 5 | ETHICS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402E"/>
                </a:solidFill>
              </a:defRPr>
            </a:pPr>
            <a:r>
              <a:t>Responsible &amp; Ethical AI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6B4A"/>
                </a:solidFill>
              </a:defRPr>
            </a:pPr>
            <a:r>
              <a:t>Fairness &amp; Inclusivity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Ensures uniform thermal comfort across all campus facilities (labs, general lecture halls, faculty blocks) without preferential treatment or biased cooling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6B4A"/>
                </a:solidFill>
              </a:defRPr>
            </a:pPr>
            <a:r>
              <a:t>Transparency &amp; Explainability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Rather than operating as an inscrutable black box, the system provides explicit human-readable rationale (e.g., ambient heat surge, occupancy ratios) for every advisory.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6B4A"/>
                </a:solidFill>
              </a:defRPr>
            </a:pPr>
            <a:r>
              <a:t>Privacy &amp; Data Protection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Relies strictly on aggregate headcount figures and academic timetables. Strictly zero biometric scanning, facial recognition, or video surveillance data is stored or collected.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B6B4A"/>
                </a:solidFill>
              </a:defRPr>
            </a:pPr>
            <a:r>
              <a:t>Human-in-the-Loop Governance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Acts as a decision-support advisory system for facility engineers. Critical override controls remain with human operators to prevent accidental shutoffs during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B6B4A"/>
                </a:solidFill>
              </a:defRPr>
            </a:pPr>
            <a:r>
              <a:t>SLIDE 6 | VISION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2402E"/>
                </a:solidFill>
              </a:defRPr>
            </a:pPr>
            <a:r>
              <a:t>Expected Impact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PROJECTED QUANTITATIVE IMPACT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15%–25% Reduction in Campus Electricity Usage:</a:t>
            </a:r>
            <a:br/>
            <a:r>
              <a:t>Significant trimming of non-peak and idle power consumption in educational blocks.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Measurable Carbon Abatement:</a:t>
            </a:r>
            <a:br/>
            <a:r>
              <a:t>Direct reduction in institutional greenhouse gas emissions (approx. 0.82 kg CO2e per kWh saved), supporting university NAAC/NIRF green audit metrics.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Operational Cost Savings:</a:t>
            </a:r>
            <a:br/>
            <a:r>
              <a:t>Direct reduction in monthly commercial electricity utility bills for the university administration.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5FAF7"/>
          </a:solidFill>
          <a:ln w="19050">
            <a:solidFill>
              <a:srgbClr val="D2E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B6B4A"/>
                </a:solidFill>
              </a:defRPr>
            </a:pPr>
            <a:r>
              <a:t>FUTURE DEVELOPMENT ROADMAP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IoT Smart Relay Integration:</a:t>
            </a:r>
            <a:br/>
            <a:r>
              <a:t>Transition from manual advisory notifications to automated Modbus/MQTT hardware relay actuation for contactless switching.</a:t>
            </a:r>
          </a:p>
          <a:p>
            <a:pPr>
              <a:spcAft>
                <a:spcPts val="1200"/>
              </a:spcAft>
              <a:defRPr sz="1300">
                <a:solidFill>
                  <a:srgbClr val="212529"/>
                </a:solidFill>
              </a:defRPr>
            </a:pPr>
            <a:r>
              <a:t>• Campus Solar Balancing:</a:t>
            </a:r>
            <a:br/>
            <a:r>
              <a:t>Sync AI scheduling with rooftop solar PV generation profiles to prioritize heavy loads during maximum renewable solar output.</a:t>
            </a:r>
          </a:p>
          <a:p>
            <a:pPr>
              <a:defRPr sz="1300">
                <a:solidFill>
                  <a:srgbClr val="212529"/>
                </a:solidFill>
              </a:defRPr>
            </a:pPr>
            <a:r>
              <a:t>• Multi-Campus Expansion:</a:t>
            </a:r>
            <a:br/>
            <a:r>
              <a:t>Centralized multi-tenant dashboard monitoring energy telemetry across multiple institutional campuses.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